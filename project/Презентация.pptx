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7"/>
  </p:notesMasterIdLst>
  <p:sldIdLst>
    <p:sldId id="256" r:id="rId4"/>
    <p:sldId id="257" r:id="rId5"/>
    <p:sldId id="259" r:id="rId6"/>
    <p:sldId id="260" r:id="rId7"/>
    <p:sldId id="299" r:id="rId8"/>
    <p:sldId id="300" r:id="rId9"/>
    <p:sldId id="302" r:id="rId10"/>
    <p:sldId id="303" r:id="rId11"/>
    <p:sldId id="304" r:id="rId12"/>
    <p:sldId id="305" r:id="rId13"/>
    <p:sldId id="306" r:id="rId14"/>
    <p:sldId id="307" r:id="rId15"/>
    <p:sldId id="308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FB7154-BA80-4FD5-8393-A6129184B9C1}">
  <a:tblStyle styleId="{72FB7154-BA80-4FD5-8393-A6129184B9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0646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{72FB7154-BA80-4FD5-8393-A6129184B9C1}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{72FB7154-BA80-4FD5-8393-A6129184B9C1}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513807" y="909662"/>
            <a:ext cx="75843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Реализация отказоустойчивой </a:t>
            </a:r>
            <a:r>
              <a:rPr lang="ru-RU" sz="36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</a:t>
            </a:r>
            <a:r>
              <a:rPr lang="ru-RU" sz="36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-VRF маршрутизации в VXLAN EVPN фабрике с использованием </a:t>
            </a:r>
            <a:r>
              <a:rPr lang="ru-RU" sz="3600" b="1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eBGP</a:t>
            </a:r>
            <a:r>
              <a:rPr lang="ru-RU" sz="36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и EVPN Type-5 маршрутов</a:t>
            </a:r>
            <a:endParaRPr lang="en-US" sz="36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Дизайн сетей ЦОД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0" y="169719"/>
            <a:ext cx="9144000" cy="56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Проблематика и цель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9"/>
          <p:cNvSpPr/>
          <p:nvPr/>
        </p:nvSpPr>
        <p:spPr>
          <a:xfrm>
            <a:off x="1567738" y="875311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обеспечить связь между клиентами, </a:t>
            </a:r>
            <a:endParaRPr lang="en-US" sz="1500" dirty="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не ломая изоляцию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EF8C1-4FCB-4E2A-B587-679DC7C99C89}"/>
              </a:ext>
            </a:extLst>
          </p:cNvPr>
          <p:cNvSpPr txBox="1"/>
          <p:nvPr/>
        </p:nvSpPr>
        <p:spPr>
          <a:xfrm>
            <a:off x="309282" y="1818775"/>
            <a:ext cx="84044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600" b="1" dirty="0"/>
              <a:t>Проблема:</a:t>
            </a:r>
            <a:r>
              <a:rPr lang="ru-RU" sz="1600" dirty="0"/>
              <a:t> Клиенты разных VRF (TENANT_A и TENANT_B) изолированы. </a:t>
            </a:r>
          </a:p>
          <a:p>
            <a:pPr lvl="0"/>
            <a:r>
              <a:rPr lang="ru-RU" sz="1600" dirty="0"/>
              <a:t>Им нужно взаимодействие, но VRF </a:t>
            </a:r>
            <a:r>
              <a:rPr lang="ru-RU" sz="1600" dirty="0" err="1"/>
              <a:t>Leaking</a:t>
            </a:r>
            <a:r>
              <a:rPr lang="ru-RU" sz="1600" dirty="0"/>
              <a:t> внутри фабрики нарушает безопасность и усложняет контроль.</a:t>
            </a:r>
            <a:endParaRPr lang="en-US" sz="1600" dirty="0"/>
          </a:p>
          <a:p>
            <a:pPr lvl="0"/>
            <a:endParaRPr lang="ru-RU" sz="1600" dirty="0"/>
          </a:p>
          <a:p>
            <a:pPr lvl="0"/>
            <a:r>
              <a:rPr lang="ru-RU" sz="1600" b="1" dirty="0"/>
              <a:t>Цель:</a:t>
            </a:r>
            <a:r>
              <a:rPr lang="ru-RU" sz="1600" dirty="0"/>
              <a:t> Организовать обмен трафиком между VRF </a:t>
            </a:r>
            <a:r>
              <a:rPr lang="ru-RU" sz="1600" b="1" dirty="0"/>
              <a:t>строго через внешние маршрутизаторы</a:t>
            </a:r>
            <a:r>
              <a:rPr lang="ru-RU" sz="1600" dirty="0"/>
              <a:t> (</a:t>
            </a:r>
            <a:r>
              <a:rPr lang="ru-RU" sz="1600" dirty="0" err="1"/>
              <a:t>Border</a:t>
            </a:r>
            <a:r>
              <a:rPr lang="ru-RU" sz="1600" dirty="0"/>
              <a:t> </a:t>
            </a:r>
            <a:r>
              <a:rPr lang="ru-RU" sz="1600" dirty="0" err="1"/>
              <a:t>Routers</a:t>
            </a:r>
            <a:r>
              <a:rPr lang="ru-RU" sz="1600" dirty="0"/>
              <a:t>).</a:t>
            </a:r>
            <a:endParaRPr lang="en-US" sz="1600" dirty="0"/>
          </a:p>
          <a:p>
            <a:pPr lvl="0"/>
            <a:endParaRPr lang="ru-RU" sz="1600" dirty="0"/>
          </a:p>
          <a:p>
            <a:pPr lvl="0"/>
            <a:r>
              <a:rPr lang="ru-RU" sz="1600" b="1" dirty="0"/>
              <a:t>Задачи проекта:</a:t>
            </a:r>
          </a:p>
          <a:p>
            <a:pPr marL="685800" lvl="1" indent="-342900">
              <a:buAutoNum type="arabicPeriod"/>
            </a:pPr>
            <a:r>
              <a:rPr lang="ru-RU" sz="1600" dirty="0"/>
              <a:t>Заменить статику на динамическую маршрутизацию (</a:t>
            </a:r>
            <a:r>
              <a:rPr lang="ru-RU" sz="1600" dirty="0" err="1"/>
              <a:t>eBGP</a:t>
            </a:r>
            <a:r>
              <a:rPr lang="ru-RU" sz="1600" dirty="0"/>
              <a:t>).</a:t>
            </a:r>
          </a:p>
          <a:p>
            <a:pPr marL="685800" lvl="1" indent="-342900">
              <a:buAutoNum type="arabicPeriod"/>
            </a:pPr>
            <a:r>
              <a:rPr lang="ru-RU" sz="1600" dirty="0"/>
              <a:t>Обеспечить отказоустойчивость (два </a:t>
            </a:r>
            <a:r>
              <a:rPr lang="ru-RU" sz="1600" dirty="0" err="1"/>
              <a:t>Border</a:t>
            </a:r>
            <a:r>
              <a:rPr lang="ru-RU" sz="1600" dirty="0"/>
              <a:t> </a:t>
            </a:r>
            <a:r>
              <a:rPr lang="ru-RU" sz="1600" dirty="0" err="1"/>
              <a:t>Router</a:t>
            </a:r>
            <a:r>
              <a:rPr lang="ru-RU" sz="1600" dirty="0"/>
              <a:t>).</a:t>
            </a:r>
          </a:p>
          <a:p>
            <a:pPr marL="685800" lvl="1" indent="-342900">
              <a:buAutoNum type="arabicPeriod"/>
            </a:pPr>
            <a:r>
              <a:rPr lang="ru-RU" sz="1600" dirty="0"/>
              <a:t>Решить проблему AS </a:t>
            </a:r>
            <a:r>
              <a:rPr lang="ru-RU" sz="1600" dirty="0" err="1"/>
              <a:t>Path</a:t>
            </a:r>
            <a:r>
              <a:rPr lang="ru-RU" sz="1600" dirty="0"/>
              <a:t> </a:t>
            </a:r>
            <a:r>
              <a:rPr lang="ru-RU" sz="1600" dirty="0" err="1"/>
              <a:t>loop</a:t>
            </a:r>
            <a:r>
              <a:rPr lang="ru-RU" sz="1600" dirty="0"/>
              <a:t> (</a:t>
            </a:r>
            <a:r>
              <a:rPr lang="ru-RU" sz="1600" dirty="0" err="1">
                <a:latin typeface="Courier"/>
              </a:rPr>
              <a:t>allowas-in</a:t>
            </a:r>
            <a:r>
              <a:rPr lang="ru-RU" sz="1600" dirty="0"/>
              <a:t>).</a:t>
            </a:r>
          </a:p>
          <a:p>
            <a:pPr marL="685800" lvl="1" indent="-342900">
              <a:buAutoNum type="arabicPeriod"/>
            </a:pPr>
            <a:r>
              <a:rPr lang="ru-RU" sz="1600" dirty="0"/>
              <a:t>Реализовать ECMP между двумя внешними роутерами.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26A8D8-8C6A-45D0-BA6C-6EDA4A2C7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480"/>
            <a:ext cx="9144000" cy="4411869"/>
          </a:xfrm>
          <a:prstGeom prst="rect">
            <a:avLst/>
          </a:prstGeom>
        </p:spPr>
      </p:pic>
      <p:sp>
        <p:nvSpPr>
          <p:cNvPr id="5" name="Google Shape;185;p39">
            <a:extLst>
              <a:ext uri="{FF2B5EF4-FFF2-40B4-BE49-F238E27FC236}">
                <a16:creationId xmlns:a16="http://schemas.microsoft.com/office/drawing/2014/main" id="{195C64F9-FAA4-48CF-AE01-28EBEE7A3A4C}"/>
              </a:ext>
            </a:extLst>
          </p:cNvPr>
          <p:cNvSpPr txBox="1"/>
          <p:nvPr/>
        </p:nvSpPr>
        <p:spPr>
          <a:xfrm>
            <a:off x="0" y="90151"/>
            <a:ext cx="9144000" cy="54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Топология сети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0335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5302BA43-652D-4BD9-8DF5-B12ABBBE11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300445"/>
              </p:ext>
            </p:extLst>
          </p:nvPr>
        </p:nvGraphicFramePr>
        <p:xfrm>
          <a:off x="537883" y="1176618"/>
          <a:ext cx="8068233" cy="3133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244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 dirty="0"/>
                        <a:t>VXLAN EVPN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 dirty="0"/>
                        <a:t>BGP (eBGP)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 dirty="0"/>
                        <a:t>Multihoming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6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• </a:t>
                      </a:r>
                      <a:r>
                        <a:rPr dirty="0" err="1"/>
                        <a:t>Туннели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между</a:t>
                      </a:r>
                      <a:r>
                        <a:rPr dirty="0"/>
                        <a:t> VTEP (Loopback1)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• Underlay (IP-</a:t>
                      </a:r>
                      <a:r>
                        <a:rPr dirty="0" err="1"/>
                        <a:t>фабрика</a:t>
                      </a:r>
                      <a:r>
                        <a:rPr dirty="0"/>
                        <a:t> /31)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Ethernet Segment (ESI)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L3VNI 50001 (TENANT_A)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Overlay (EVPN RR)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LAG для Server-2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6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L3VNI 50002 (TENANT_B)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</a:t>
                      </a:r>
                      <a:r>
                        <a:rPr b="1"/>
                        <a:t>External</a:t>
                      </a:r>
                      <a:r>
                        <a:t> (Leaf-3 ↔ Border)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Отказоуст. на уровне доступа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0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• </a:t>
                      </a:r>
                      <a:r>
                        <a:rPr b="1"/>
                        <a:t>Type-5 (IP Prefix)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D1BE1CE-0B28-4018-A315-582D5B81D562}"/>
              </a:ext>
            </a:extLst>
          </p:cNvPr>
          <p:cNvSpPr txBox="1"/>
          <p:nvPr/>
        </p:nvSpPr>
        <p:spPr>
          <a:xfrm>
            <a:off x="2285999" y="22599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latin typeface="Roboto" panose="02000000000000000000" pitchFamily="2" charset="0"/>
                <a:ea typeface="Roboto" panose="02000000000000000000" pitchFamily="2" charset="0"/>
              </a:rPr>
              <a:t>Ключевые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128367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50CA6-7E14-4E0C-95F0-9EEBA992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88" y="330724"/>
            <a:ext cx="8853062" cy="671082"/>
          </a:xfrm>
        </p:spPr>
        <p:txBody>
          <a:bodyPr/>
          <a:lstStyle/>
          <a:p>
            <a:pPr algn="ctr"/>
            <a:r>
              <a:rPr lang="ru-RU" dirty="0"/>
              <a:t>Проблема </a:t>
            </a:r>
            <a:r>
              <a:rPr lang="en-US" dirty="0"/>
              <a:t>AS-Path Loop (</a:t>
            </a:r>
            <a:r>
              <a:rPr lang="en-US" dirty="0" err="1"/>
              <a:t>allowas</a:t>
            </a:r>
            <a:r>
              <a:rPr lang="en-US" dirty="0"/>
              <a:t>-in)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A4A0D-497B-48FF-BCB2-09B97BA010BF}"/>
              </a:ext>
            </a:extLst>
          </p:cNvPr>
          <p:cNvSpPr txBox="1"/>
          <p:nvPr/>
        </p:nvSpPr>
        <p:spPr>
          <a:xfrm>
            <a:off x="618565" y="1198432"/>
            <a:ext cx="79068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ru-RU" sz="1600" b="1" dirty="0"/>
              <a:t>Почему без </a:t>
            </a:r>
            <a:r>
              <a:rPr lang="ru-RU" sz="1600" b="1" dirty="0" err="1">
                <a:latin typeface="Courier"/>
              </a:rPr>
              <a:t>allowas-in</a:t>
            </a:r>
            <a:r>
              <a:rPr lang="ru-RU" sz="1600" b="1" dirty="0"/>
              <a:t> ничего не работает?</a:t>
            </a:r>
            <a:br>
              <a:rPr lang="en-US" sz="1600" b="1" dirty="0"/>
            </a:br>
            <a:endParaRPr lang="ru-RU" sz="1600" b="1" dirty="0"/>
          </a:p>
          <a:p>
            <a:pPr marL="342900" lvl="0" indent="-342900">
              <a:buAutoNum type="arabicPeriod"/>
            </a:pPr>
            <a:r>
              <a:rPr lang="ru-RU" sz="1600" b="1" dirty="0"/>
              <a:t>Leaf-3</a:t>
            </a:r>
            <a:r>
              <a:rPr lang="ru-RU" sz="1600" dirty="0"/>
              <a:t> (AS 65503) отправляет маршрут клиента в </a:t>
            </a:r>
            <a:r>
              <a:rPr lang="ru-RU" sz="1600" b="1" dirty="0" err="1"/>
              <a:t>Border</a:t>
            </a:r>
            <a:r>
              <a:rPr lang="ru-RU" sz="1600" dirty="0"/>
              <a:t>.</a:t>
            </a:r>
            <a:br>
              <a:rPr lang="en-US" sz="1600" dirty="0"/>
            </a:br>
            <a:endParaRPr lang="ru-RU" sz="1600" dirty="0"/>
          </a:p>
          <a:p>
            <a:pPr marL="342900" lvl="0" indent="-342900">
              <a:buAutoNum type="arabicPeriod"/>
            </a:pPr>
            <a:r>
              <a:rPr lang="ru-RU" sz="1600" b="1" dirty="0" err="1"/>
              <a:t>Border</a:t>
            </a:r>
            <a:r>
              <a:rPr lang="ru-RU" sz="1600" dirty="0"/>
              <a:t> (AS 65510) добавляет себя в AS-</a:t>
            </a:r>
            <a:r>
              <a:rPr lang="ru-RU" sz="1600" dirty="0" err="1"/>
              <a:t>Path</a:t>
            </a:r>
            <a:r>
              <a:rPr lang="ru-RU" sz="1600" dirty="0"/>
              <a:t> и отправляет маршрут обратно в Leaf-3.</a:t>
            </a:r>
            <a:br>
              <a:rPr lang="en-US" sz="1600" dirty="0"/>
            </a:br>
            <a:endParaRPr lang="ru-RU" sz="1600" dirty="0"/>
          </a:p>
          <a:p>
            <a:pPr marL="342900" lvl="0" indent="-342900">
              <a:buAutoNum type="arabicPeriod"/>
            </a:pPr>
            <a:r>
              <a:rPr lang="ru-RU" sz="1600" b="1" dirty="0"/>
              <a:t>Leaf-3 получает обновление:</a:t>
            </a:r>
            <a:r>
              <a:rPr lang="ru-RU" sz="1600" dirty="0"/>
              <a:t> </a:t>
            </a:r>
            <a:r>
              <a:rPr lang="ru-RU" sz="1600" dirty="0" err="1">
                <a:latin typeface="Courier"/>
              </a:rPr>
              <a:t>Path</a:t>
            </a:r>
            <a:r>
              <a:rPr lang="ru-RU" sz="1600" dirty="0">
                <a:latin typeface="Courier"/>
              </a:rPr>
              <a:t>: 65510 65503</a:t>
            </a:r>
            <a:r>
              <a:rPr lang="ru-RU" sz="1600" dirty="0"/>
              <a:t>.</a:t>
            </a:r>
            <a:br>
              <a:rPr lang="en-US" sz="1600" dirty="0"/>
            </a:br>
            <a:endParaRPr lang="ru-RU" sz="1600" dirty="0"/>
          </a:p>
          <a:p>
            <a:pPr marL="0" lvl="0" indent="0">
              <a:buNone/>
            </a:pPr>
            <a:r>
              <a:rPr lang="ru-RU" sz="1600" dirty="0"/>
              <a:t>Стандартная проверка BGP отбрасывает такой маршрут (обнаружен</a:t>
            </a:r>
            <a:r>
              <a:rPr lang="en-US" sz="1600" dirty="0"/>
              <a:t>  </a:t>
            </a:r>
            <a:r>
              <a:rPr lang="ru-RU" sz="1600" dirty="0"/>
              <a:t>номер собственный AS). Маршрут не устанавливается.</a:t>
            </a:r>
            <a:br>
              <a:rPr lang="en-US" sz="1600" dirty="0"/>
            </a:br>
            <a:endParaRPr lang="ru-RU" sz="1600" dirty="0"/>
          </a:p>
          <a:p>
            <a:pPr marL="0" lvl="0" indent="0">
              <a:buNone/>
            </a:pPr>
            <a:r>
              <a:rPr lang="ru-RU" sz="1600" b="1" dirty="0"/>
              <a:t>Решение:</a:t>
            </a:r>
            <a:r>
              <a:rPr lang="ru-RU" sz="1600" dirty="0"/>
              <a:t> Команда </a:t>
            </a:r>
            <a:r>
              <a:rPr lang="ru-RU" sz="1600" dirty="0" err="1">
                <a:latin typeface="Courier"/>
              </a:rPr>
              <a:t>neighbor</a:t>
            </a:r>
            <a:r>
              <a:rPr lang="ru-RU" sz="1600" dirty="0">
                <a:latin typeface="Courier"/>
              </a:rPr>
              <a:t> ... </a:t>
            </a:r>
            <a:r>
              <a:rPr lang="ru-RU" sz="1600" dirty="0" err="1">
                <a:latin typeface="Courier"/>
              </a:rPr>
              <a:t>allowas-in</a:t>
            </a:r>
            <a:r>
              <a:rPr lang="ru-RU" sz="1600" dirty="0">
                <a:latin typeface="Courier"/>
              </a:rPr>
              <a:t> 1</a:t>
            </a:r>
            <a:r>
              <a:rPr lang="ru-RU" sz="1600" dirty="0"/>
              <a:t> на Leaf-3 в адрес соседей </a:t>
            </a:r>
            <a:r>
              <a:rPr lang="ru-RU" sz="1600" dirty="0" err="1"/>
              <a:t>Border</a:t>
            </a:r>
            <a:r>
              <a:rPr lang="ru-RU" sz="1600" dirty="0"/>
              <a:t>. </a:t>
            </a:r>
            <a:r>
              <a:rPr lang="ru-RU" sz="1600" i="1" dirty="0"/>
              <a:t>Разрешаем принять маршрут, даже если в AS-</a:t>
            </a:r>
            <a:r>
              <a:rPr lang="ru-RU" sz="1600" i="1" dirty="0" err="1"/>
              <a:t>Path</a:t>
            </a:r>
            <a:r>
              <a:rPr lang="ru-RU" sz="1600" i="1" dirty="0"/>
              <a:t> есть наш номер один раз. Мы уверены, что он прошел через внешний роутер, а не зациклился.</a:t>
            </a:r>
          </a:p>
        </p:txBody>
      </p:sp>
    </p:spTree>
    <p:extLst>
      <p:ext uri="{BB962C8B-B14F-4D97-AF65-F5344CB8AC3E}">
        <p14:creationId xmlns:p14="http://schemas.microsoft.com/office/powerpoint/2010/main" val="2483341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DC083-1162-4040-BFC0-C64D6B5241EE}"/>
              </a:ext>
            </a:extLst>
          </p:cNvPr>
          <p:cNvSpPr txBox="1">
            <a:spLocks/>
          </p:cNvSpPr>
          <p:nvPr/>
        </p:nvSpPr>
        <p:spPr>
          <a:xfrm>
            <a:off x="168088" y="330724"/>
            <a:ext cx="8853062" cy="67108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EVPN Type-5 — </a:t>
            </a:r>
            <a:r>
              <a:rPr lang="ru-RU" sz="3000" b="1" dirty="0">
                <a:latin typeface="Roboto" panose="02000000000000000000" pitchFamily="2" charset="0"/>
                <a:ea typeface="Roboto" panose="02000000000000000000" pitchFamily="2" charset="0"/>
              </a:rPr>
              <a:t>Механизм </a:t>
            </a: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inter</a:t>
            </a:r>
            <a:r>
              <a:rPr lang="ru-RU" sz="3000" b="1" dirty="0"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VRF </a:t>
            </a:r>
            <a:r>
              <a:rPr lang="ru-RU" sz="3000" b="1" dirty="0">
                <a:latin typeface="Roboto" panose="02000000000000000000" pitchFamily="2" charset="0"/>
                <a:ea typeface="Roboto" panose="02000000000000000000" pitchFamily="2" charset="0"/>
              </a:rPr>
              <a:t>обмена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74E0BE-FC94-4C28-B828-8BD7BBAB2E75}"/>
              </a:ext>
            </a:extLst>
          </p:cNvPr>
          <p:cNvSpPr txBox="1"/>
          <p:nvPr/>
        </p:nvSpPr>
        <p:spPr>
          <a:xfrm>
            <a:off x="618565" y="1198432"/>
            <a:ext cx="79068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ru-RU" sz="1600" b="1" dirty="0"/>
              <a:t>Как TENANT_A узнает про сеть TENANT_B?</a:t>
            </a:r>
          </a:p>
          <a:p>
            <a:pPr marL="0" lvl="0" indent="0">
              <a:buNone/>
            </a:pPr>
            <a:endParaRPr lang="ru-RU" sz="1600" i="1" dirty="0"/>
          </a:p>
          <a:p>
            <a:pPr marL="342900" lvl="0" indent="-342900">
              <a:buAutoNum type="arabicPeriod"/>
            </a:pPr>
            <a:r>
              <a:rPr lang="ru-RU" sz="1600" b="1" dirty="0"/>
              <a:t>Источник:</a:t>
            </a:r>
            <a:r>
              <a:rPr lang="ru-RU" sz="1600" dirty="0"/>
              <a:t> </a:t>
            </a:r>
            <a:r>
              <a:rPr lang="en-US" sz="1600" dirty="0"/>
              <a:t>Client-2 </a:t>
            </a:r>
            <a:r>
              <a:rPr lang="ru-RU" sz="1600" dirty="0"/>
              <a:t>в </a:t>
            </a:r>
            <a:r>
              <a:rPr lang="en-US" sz="1600" dirty="0"/>
              <a:t>TENANT_B (</a:t>
            </a:r>
            <a:r>
              <a:rPr lang="en-US" sz="1600" dirty="0">
                <a:latin typeface="Courier"/>
              </a:rPr>
              <a:t>192.168.101.0/24</a:t>
            </a:r>
            <a:r>
              <a:rPr lang="en-US" sz="1600" dirty="0"/>
              <a:t>) </a:t>
            </a:r>
            <a:r>
              <a:rPr lang="ru-RU" sz="1600" dirty="0"/>
              <a:t>на </a:t>
            </a:r>
            <a:r>
              <a:rPr lang="en-US" sz="1600" dirty="0"/>
              <a:t>Leaf-2.</a:t>
            </a:r>
          </a:p>
          <a:p>
            <a:pPr marL="342900" lvl="0" indent="-342900">
              <a:buAutoNum type="arabicPeriod"/>
            </a:pPr>
            <a:r>
              <a:rPr lang="ru-RU" sz="1600" b="1" dirty="0" err="1"/>
              <a:t>Редистрибуция</a:t>
            </a:r>
            <a:r>
              <a:rPr lang="ru-RU" sz="1600" b="1" dirty="0"/>
              <a:t>:</a:t>
            </a:r>
            <a:r>
              <a:rPr lang="ru-RU" sz="1600" dirty="0"/>
              <a:t> </a:t>
            </a:r>
            <a:r>
              <a:rPr lang="en-US" sz="1600" dirty="0"/>
              <a:t>Leaf-2 </a:t>
            </a:r>
            <a:r>
              <a:rPr lang="ru-RU" sz="1600" dirty="0"/>
              <a:t>анонсирует сеть в </a:t>
            </a:r>
            <a:r>
              <a:rPr lang="en-US" sz="1600" dirty="0"/>
              <a:t>EVPN </a:t>
            </a:r>
            <a:r>
              <a:rPr lang="ru-RU" sz="1600" dirty="0"/>
              <a:t>как </a:t>
            </a:r>
            <a:r>
              <a:rPr lang="en-US" sz="1600" b="1" dirty="0"/>
              <a:t>Type-5</a:t>
            </a:r>
            <a:r>
              <a:rPr lang="en-US" sz="1600" dirty="0"/>
              <a:t> (RD: 10.0.2.11:50002).</a:t>
            </a:r>
          </a:p>
          <a:p>
            <a:pPr marL="342900" lvl="0" indent="-342900">
              <a:buAutoNum type="arabicPeriod"/>
            </a:pPr>
            <a:r>
              <a:rPr lang="ru-RU" sz="1600" b="1" dirty="0"/>
              <a:t>Фабрика:</a:t>
            </a:r>
            <a:r>
              <a:rPr lang="ru-RU" sz="1600" dirty="0"/>
              <a:t> </a:t>
            </a:r>
            <a:r>
              <a:rPr lang="en-US" sz="1600" dirty="0"/>
              <a:t>Spine (RR) </a:t>
            </a:r>
            <a:r>
              <a:rPr lang="ru-RU" sz="1600" dirty="0"/>
              <a:t>рассылает </a:t>
            </a:r>
            <a:r>
              <a:rPr lang="en-US" sz="1600" dirty="0"/>
              <a:t>Type-5 </a:t>
            </a:r>
            <a:r>
              <a:rPr lang="ru-RU" sz="1600" dirty="0"/>
              <a:t>всем </a:t>
            </a:r>
            <a:r>
              <a:rPr lang="en-US" sz="1600" dirty="0"/>
              <a:t>Leaf.</a:t>
            </a:r>
          </a:p>
          <a:p>
            <a:pPr marL="342900" lvl="0" indent="-342900">
              <a:buAutoNum type="arabicPeriod"/>
            </a:pPr>
            <a:r>
              <a:rPr lang="en-US" sz="1600" b="1" dirty="0"/>
              <a:t>Border Leaf (Leaf-3):</a:t>
            </a:r>
          </a:p>
          <a:p>
            <a:pPr lvl="1"/>
            <a:r>
              <a:rPr lang="ru-RU" sz="1600" dirty="0"/>
              <a:t>Получает </a:t>
            </a:r>
            <a:r>
              <a:rPr lang="en-US" sz="1600" dirty="0"/>
              <a:t>Type-5 </a:t>
            </a:r>
            <a:r>
              <a:rPr lang="ru-RU" sz="1600" dirty="0"/>
              <a:t>для </a:t>
            </a:r>
            <a:r>
              <a:rPr lang="en-US" sz="1600" dirty="0"/>
              <a:t>TENANT_B.</a:t>
            </a:r>
          </a:p>
          <a:p>
            <a:pPr lvl="1"/>
            <a:r>
              <a:rPr lang="ru-RU" sz="1600" dirty="0"/>
              <a:t>Передает маршрут в </a:t>
            </a:r>
            <a:r>
              <a:rPr lang="en-US" sz="1600" dirty="0"/>
              <a:t>VRF TENANT_A </a:t>
            </a:r>
            <a:r>
              <a:rPr lang="ru-RU" sz="1600" dirty="0"/>
              <a:t>соседям </a:t>
            </a:r>
            <a:r>
              <a:rPr lang="en-US" sz="1600" dirty="0"/>
              <a:t>Border.</a:t>
            </a:r>
          </a:p>
          <a:p>
            <a:pPr lvl="1"/>
            <a:r>
              <a:rPr lang="ru-RU" sz="1600" dirty="0"/>
              <a:t>Получает его обратно (благодаря </a:t>
            </a:r>
            <a:r>
              <a:rPr lang="en-US" sz="1600" dirty="0" err="1"/>
              <a:t>allowas</a:t>
            </a:r>
            <a:r>
              <a:rPr lang="en-US" sz="1600" dirty="0"/>
              <a:t>-in) </a:t>
            </a:r>
            <a:r>
              <a:rPr lang="ru-RU" sz="1600" dirty="0"/>
              <a:t>и создает </a:t>
            </a:r>
            <a:r>
              <a:rPr lang="ru-RU" sz="1600" b="1" dirty="0"/>
              <a:t>новый </a:t>
            </a:r>
            <a:r>
              <a:rPr lang="en-US" sz="1600" b="1" dirty="0"/>
              <a:t>Type-5</a:t>
            </a:r>
            <a:r>
              <a:rPr lang="en-US" sz="1600" dirty="0"/>
              <a:t>, </a:t>
            </a:r>
            <a:r>
              <a:rPr lang="ru-RU" sz="1600" dirty="0"/>
              <a:t>но уже с </a:t>
            </a:r>
            <a:r>
              <a:rPr lang="en-US" sz="1600" b="1" dirty="0"/>
              <a:t>RD </a:t>
            </a:r>
            <a:r>
              <a:rPr lang="ru-RU" sz="1600" b="1" dirty="0"/>
              <a:t>для </a:t>
            </a:r>
            <a:r>
              <a:rPr lang="en-US" sz="1600" b="1" dirty="0"/>
              <a:t>TENANT_A</a:t>
            </a:r>
            <a:r>
              <a:rPr lang="en-US" sz="1600" dirty="0"/>
              <a:t>.</a:t>
            </a:r>
          </a:p>
          <a:p>
            <a:pPr marL="342900" lvl="0" indent="-342900">
              <a:buAutoNum type="arabicPeriod"/>
            </a:pPr>
            <a:r>
              <a:rPr lang="en-US" sz="1600" b="1" dirty="0"/>
              <a:t>Leaf-1:</a:t>
            </a:r>
            <a:r>
              <a:rPr lang="en-US" sz="1600" dirty="0"/>
              <a:t> </a:t>
            </a:r>
            <a:r>
              <a:rPr lang="ru-RU" sz="1600" dirty="0"/>
              <a:t>Импортирует </a:t>
            </a:r>
            <a:r>
              <a:rPr lang="en-US" sz="1600" dirty="0"/>
              <a:t>Type-5 (</a:t>
            </a:r>
            <a:r>
              <a:rPr lang="ru-RU" sz="1600" dirty="0"/>
              <a:t>благодаря </a:t>
            </a:r>
            <a:r>
              <a:rPr lang="en-US" sz="1600" dirty="0"/>
              <a:t>Route Target </a:t>
            </a:r>
            <a:r>
              <a:rPr lang="en-US" sz="1600" dirty="0">
                <a:latin typeface="Courier"/>
              </a:rPr>
              <a:t>65000:50001</a:t>
            </a:r>
            <a:r>
              <a:rPr lang="en-US" sz="1600" dirty="0"/>
              <a:t>) </a:t>
            </a:r>
            <a:r>
              <a:rPr lang="ru-RU" sz="1600" dirty="0"/>
              <a:t>и устанавливает маршрут в </a:t>
            </a:r>
            <a:r>
              <a:rPr lang="en-US" sz="1600" dirty="0"/>
              <a:t>VRF TENANT_A.</a:t>
            </a:r>
          </a:p>
          <a:p>
            <a:pPr marL="0" lvl="0" indent="0">
              <a:buNone/>
            </a:pPr>
            <a:r>
              <a:rPr lang="ru-RU" sz="1600" b="1" dirty="0"/>
              <a:t>Результат:</a:t>
            </a:r>
            <a:r>
              <a:rPr lang="ru-RU" sz="1600" dirty="0"/>
              <a:t> </a:t>
            </a:r>
            <a:r>
              <a:rPr lang="en-US" sz="1600" dirty="0"/>
              <a:t>Client-1 (A) </a:t>
            </a:r>
            <a:r>
              <a:rPr lang="ru-RU" sz="1600" dirty="0"/>
              <a:t>знает, что сеть </a:t>
            </a:r>
            <a:r>
              <a:rPr lang="en-US" sz="1600" dirty="0"/>
              <a:t>Client-2 (B) </a:t>
            </a:r>
            <a:r>
              <a:rPr lang="ru-RU" sz="1600" dirty="0"/>
              <a:t>доступна через </a:t>
            </a:r>
            <a:r>
              <a:rPr lang="en-US" sz="1600" dirty="0"/>
              <a:t>VTEP Leaf-3.</a:t>
            </a:r>
          </a:p>
        </p:txBody>
      </p:sp>
    </p:spTree>
    <p:extLst>
      <p:ext uri="{BB962C8B-B14F-4D97-AF65-F5344CB8AC3E}">
        <p14:creationId xmlns:p14="http://schemas.microsoft.com/office/powerpoint/2010/main" val="255245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30C2C6-00AE-45FB-9E4A-ABB4F29A102F}"/>
              </a:ext>
            </a:extLst>
          </p:cNvPr>
          <p:cNvSpPr txBox="1">
            <a:spLocks/>
          </p:cNvSpPr>
          <p:nvPr/>
        </p:nvSpPr>
        <p:spPr>
          <a:xfrm>
            <a:off x="168088" y="330724"/>
            <a:ext cx="8853062" cy="67108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3000" b="1" dirty="0">
                <a:latin typeface="Roboto" panose="02000000000000000000" pitchFamily="2" charset="0"/>
                <a:ea typeface="Roboto" panose="02000000000000000000" pitchFamily="2" charset="0"/>
              </a:rPr>
              <a:t>Отказоустойчивость и </a:t>
            </a:r>
            <a:r>
              <a:rPr lang="en-US" sz="3000" b="1" dirty="0">
                <a:latin typeface="Roboto" panose="02000000000000000000" pitchFamily="2" charset="0"/>
                <a:ea typeface="Roboto" panose="02000000000000000000" pitchFamily="2" charset="0"/>
              </a:rPr>
              <a:t>ECMP</a:t>
            </a:r>
            <a:endParaRPr lang="ru-RU" sz="3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85D93-876A-4CA0-A1AD-9D01B328852C}"/>
              </a:ext>
            </a:extLst>
          </p:cNvPr>
          <p:cNvSpPr txBox="1"/>
          <p:nvPr/>
        </p:nvSpPr>
        <p:spPr>
          <a:xfrm>
            <a:off x="618565" y="1198432"/>
            <a:ext cx="790687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ru-RU" sz="2000" b="1" dirty="0"/>
              <a:t>Два </a:t>
            </a:r>
            <a:r>
              <a:rPr lang="ru-RU" sz="2000" b="1" dirty="0" err="1"/>
              <a:t>Border-Router</a:t>
            </a:r>
            <a:r>
              <a:rPr lang="ru-RU" sz="2000" b="1" dirty="0"/>
              <a:t> = 100% доступность и балансировка</a:t>
            </a:r>
            <a:endParaRPr lang="en-US" sz="2000" b="1" dirty="0"/>
          </a:p>
          <a:p>
            <a:pPr lvl="0"/>
            <a:endParaRPr lang="en-US" b="1" dirty="0"/>
          </a:p>
          <a:p>
            <a:pPr lvl="0"/>
            <a:r>
              <a:rPr lang="en-US" sz="1800" b="1" dirty="0"/>
              <a:t>ECMP (</a:t>
            </a:r>
            <a:r>
              <a:rPr lang="ru-RU" sz="1800" b="1" dirty="0"/>
              <a:t>Равнозначная маршрутизация):</a:t>
            </a:r>
            <a:r>
              <a:rPr lang="ru-RU" sz="1800" dirty="0"/>
              <a:t> Трафик распределяется между двумя линками.</a:t>
            </a:r>
            <a:endParaRPr lang="en-US" sz="1800" dirty="0"/>
          </a:p>
          <a:p>
            <a:pPr lvl="0"/>
            <a:endParaRPr lang="ru-RU" sz="1800" dirty="0"/>
          </a:p>
          <a:p>
            <a:pPr lvl="1" indent="0">
              <a:buNone/>
            </a:pPr>
            <a:r>
              <a:rPr lang="en-US" sz="1800" dirty="0">
                <a:latin typeface="Courier"/>
              </a:rPr>
              <a:t>leaf-3#show </a:t>
            </a:r>
            <a:r>
              <a:rPr lang="en-US" sz="1800" dirty="0" err="1">
                <a:latin typeface="Courier"/>
              </a:rPr>
              <a:t>ip</a:t>
            </a:r>
            <a:r>
              <a:rPr lang="en-US" sz="1800" dirty="0">
                <a:latin typeface="Courier"/>
              </a:rPr>
              <a:t> route </a:t>
            </a:r>
            <a:r>
              <a:rPr lang="en-US" sz="1800" dirty="0" err="1">
                <a:latin typeface="Courier"/>
              </a:rPr>
              <a:t>vrf</a:t>
            </a:r>
            <a:r>
              <a:rPr lang="en-US" sz="1800" dirty="0">
                <a:latin typeface="Courier"/>
              </a:rPr>
              <a:t> TENANT_A 192.168.101.0/24
via 10.254.254.0, Ethernet5   (Border-1)
via 10.254.254.4, Ethernet7   (Border-2)</a:t>
            </a:r>
          </a:p>
          <a:p>
            <a:pPr lvl="1" indent="0">
              <a:buNone/>
            </a:pPr>
            <a:endParaRPr lang="en-US" sz="1800" dirty="0">
              <a:latin typeface="Courier"/>
            </a:endParaRPr>
          </a:p>
          <a:p>
            <a:pPr lvl="0"/>
            <a:r>
              <a:rPr lang="ru-RU" sz="1800" b="1" dirty="0"/>
              <a:t>Резервирование:</a:t>
            </a:r>
            <a:r>
              <a:rPr lang="ru-RU" sz="1800" dirty="0"/>
              <a:t> При отказе одного линка/роутера, </a:t>
            </a:r>
            <a:r>
              <a:rPr lang="en-US" sz="1800" dirty="0"/>
              <a:t>BGP </a:t>
            </a:r>
            <a:r>
              <a:rPr lang="ru-RU" sz="1800" dirty="0"/>
              <a:t>сессия падает, и маршрут автоматически убирается из таблицы. Весь трафик мгновенно идет через оставшийся линк.</a:t>
            </a:r>
          </a:p>
          <a:p>
            <a:pPr marL="0" lv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997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255E8-832E-4269-BB6D-C92B55F6C5E7}"/>
              </a:ext>
            </a:extLst>
          </p:cNvPr>
          <p:cNvSpPr txBox="1">
            <a:spLocks/>
          </p:cNvSpPr>
          <p:nvPr/>
        </p:nvSpPr>
        <p:spPr>
          <a:xfrm>
            <a:off x="145469" y="122345"/>
            <a:ext cx="8853062" cy="52988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800" b="1" dirty="0">
                <a:latin typeface="Roboto" panose="02000000000000000000" pitchFamily="2" charset="0"/>
                <a:ea typeface="Roboto" panose="02000000000000000000" pitchFamily="2" charset="0"/>
              </a:rPr>
              <a:t>Проверка связности (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Ping)</a:t>
            </a:r>
            <a:endParaRPr lang="ru-RU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5B5F0-C08D-47A5-9999-3B757D906363}"/>
              </a:ext>
            </a:extLst>
          </p:cNvPr>
          <p:cNvSpPr txBox="1"/>
          <p:nvPr/>
        </p:nvSpPr>
        <p:spPr>
          <a:xfrm>
            <a:off x="571500" y="652233"/>
            <a:ext cx="813547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800" b="1" dirty="0"/>
              <a:t>Внутри </a:t>
            </a:r>
            <a:r>
              <a:rPr lang="en-US" sz="1800" b="1" dirty="0"/>
              <a:t>VRF TENANT_A:</a:t>
            </a:r>
          </a:p>
          <a:p>
            <a:pPr lvl="0"/>
            <a:endParaRPr lang="en-US" sz="1800" b="1" dirty="0"/>
          </a:p>
          <a:p>
            <a:pPr lvl="1"/>
            <a:r>
              <a:rPr lang="en-US" b="1" dirty="0">
                <a:latin typeface="Courier"/>
              </a:rPr>
              <a:t>Client-1 (192.168.100.11) → Client-3 ( 192.168.100.13)</a:t>
            </a:r>
            <a:r>
              <a:rPr lang="en-US" b="1" dirty="0"/>
              <a:t>: </a:t>
            </a:r>
            <a:r>
              <a:rPr lang="ru-RU" b="1" dirty="0"/>
              <a:t>Успешно (</a:t>
            </a:r>
            <a:r>
              <a:rPr lang="en-US" b="1" dirty="0"/>
              <a:t>TTL=64)</a:t>
            </a:r>
          </a:p>
          <a:p>
            <a:pPr lvl="1"/>
            <a:r>
              <a:rPr lang="en-US" b="1" dirty="0">
                <a:latin typeface="Courier"/>
              </a:rPr>
              <a:t>Server-2 (192.168.100.12) → Client-1</a:t>
            </a:r>
            <a:r>
              <a:rPr lang="en-US" b="1" dirty="0"/>
              <a:t>: </a:t>
            </a:r>
            <a:r>
              <a:rPr lang="ru-RU" b="1" dirty="0"/>
              <a:t>Успешно</a:t>
            </a:r>
            <a:endParaRPr lang="en-US" b="1" dirty="0"/>
          </a:p>
          <a:p>
            <a:pPr lvl="1"/>
            <a:endParaRPr lang="ru-RU" sz="1800" b="1" dirty="0"/>
          </a:p>
          <a:p>
            <a:pPr lvl="0"/>
            <a:r>
              <a:rPr lang="en-US" sz="1800" b="1" dirty="0"/>
              <a:t>Inter-VRF (A → B) </a:t>
            </a:r>
            <a:r>
              <a:rPr lang="ru-RU" sz="1800" b="1" dirty="0"/>
              <a:t>при двух </a:t>
            </a:r>
            <a:r>
              <a:rPr lang="en-US" sz="1800" b="1" dirty="0"/>
              <a:t>Border:</a:t>
            </a:r>
          </a:p>
          <a:p>
            <a:pPr lvl="0"/>
            <a:endParaRPr lang="en-US" sz="1800" b="1" dirty="0"/>
          </a:p>
          <a:p>
            <a:pPr lvl="1"/>
            <a:r>
              <a:rPr lang="en-US" b="1" dirty="0">
                <a:latin typeface="Courier"/>
              </a:rPr>
              <a:t>Client-1 → Client-2 (192.168.101.12)</a:t>
            </a:r>
            <a:r>
              <a:rPr lang="en-US" b="1" dirty="0"/>
              <a:t>: </a:t>
            </a:r>
            <a:r>
              <a:rPr lang="ru-RU" b="1" dirty="0"/>
              <a:t>Успешно (</a:t>
            </a:r>
            <a:r>
              <a:rPr lang="en-US" b="1" dirty="0"/>
              <a:t>TTL=59)</a:t>
            </a:r>
          </a:p>
          <a:p>
            <a:pPr lvl="1"/>
            <a:endParaRPr lang="en-US" sz="1800" dirty="0"/>
          </a:p>
          <a:p>
            <a:pPr lvl="0"/>
            <a:r>
              <a:rPr lang="en-US" sz="1800" b="1" dirty="0"/>
              <a:t>Inter-VRF </a:t>
            </a:r>
            <a:r>
              <a:rPr lang="ru-RU" sz="1800" b="1" dirty="0"/>
              <a:t>после отказа </a:t>
            </a:r>
            <a:r>
              <a:rPr lang="en-US" sz="1800" b="1" dirty="0"/>
              <a:t>Border-2:</a:t>
            </a:r>
          </a:p>
          <a:p>
            <a:pPr lvl="0"/>
            <a:endParaRPr lang="en-US" sz="1800" b="1" dirty="0"/>
          </a:p>
          <a:p>
            <a:pPr lvl="1"/>
            <a:r>
              <a:rPr lang="en-US" b="1" dirty="0">
                <a:latin typeface="Courier"/>
              </a:rPr>
              <a:t>Client-1 → Client-2</a:t>
            </a:r>
            <a:r>
              <a:rPr lang="en-US" b="1" dirty="0"/>
              <a:t>: </a:t>
            </a:r>
            <a:r>
              <a:rPr lang="ru-RU" b="1" dirty="0"/>
              <a:t>Успешно (0% потерь пакетов при переключении)</a:t>
            </a:r>
            <a:endParaRPr lang="en-US" b="1" dirty="0"/>
          </a:p>
          <a:p>
            <a:pPr lvl="1"/>
            <a:endParaRPr lang="ru-RU" sz="1800" dirty="0"/>
          </a:p>
          <a:p>
            <a:pPr lvl="0"/>
            <a:r>
              <a:rPr lang="en-US" sz="1800" b="1" dirty="0"/>
              <a:t>Multihoming Server-2:</a:t>
            </a:r>
          </a:p>
          <a:p>
            <a:pPr lvl="0"/>
            <a:endParaRPr lang="en-US" sz="1800" b="1" dirty="0"/>
          </a:p>
          <a:p>
            <a:pPr lvl="1"/>
            <a:r>
              <a:rPr lang="ru-RU" b="1" dirty="0"/>
              <a:t>Доступен при отказе линка </a:t>
            </a:r>
            <a:r>
              <a:rPr lang="en-US" b="1" dirty="0"/>
              <a:t>Leaf-1 </a:t>
            </a:r>
            <a:r>
              <a:rPr lang="ru-RU" b="1" dirty="0"/>
              <a:t>или </a:t>
            </a:r>
            <a:r>
              <a:rPr lang="en-US" b="1" dirty="0"/>
              <a:t>Leaf-2.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785375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99EE0-9E84-44CE-B8CB-2B239EFEE50D}"/>
              </a:ext>
            </a:extLst>
          </p:cNvPr>
          <p:cNvSpPr txBox="1">
            <a:spLocks/>
          </p:cNvSpPr>
          <p:nvPr/>
        </p:nvSpPr>
        <p:spPr>
          <a:xfrm>
            <a:off x="145469" y="122345"/>
            <a:ext cx="8853062" cy="52988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800" b="1" dirty="0">
                <a:latin typeface="Roboto" panose="02000000000000000000" pitchFamily="2" charset="0"/>
                <a:ea typeface="Roboto" panose="02000000000000000000" pitchFamily="2" charset="0"/>
              </a:rPr>
              <a:t>Анализ пути (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Traceroute)</a:t>
            </a:r>
            <a:endParaRPr lang="ru-RU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B42CB-BFB5-443E-8BD4-F8FAACA75353}"/>
              </a:ext>
            </a:extLst>
          </p:cNvPr>
          <p:cNvSpPr txBox="1"/>
          <p:nvPr/>
        </p:nvSpPr>
        <p:spPr>
          <a:xfrm>
            <a:off x="504264" y="955923"/>
            <a:ext cx="813547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 err="1"/>
              <a:t>Traceroute</a:t>
            </a:r>
            <a:r>
              <a:rPr lang="ru-RU" sz="1800" b="1" dirty="0"/>
              <a:t> подтверждает прохождение через </a:t>
            </a:r>
            <a:r>
              <a:rPr lang="ru-RU" sz="1800" b="1" dirty="0" err="1"/>
              <a:t>Border</a:t>
            </a:r>
            <a:r>
              <a:rPr lang="ru-RU" sz="1800" b="1" dirty="0"/>
              <a:t> </a:t>
            </a:r>
            <a:r>
              <a:rPr lang="ru-RU" sz="1800" b="1" dirty="0" err="1"/>
              <a:t>Router</a:t>
            </a:r>
            <a:r>
              <a:rPr lang="en-US" sz="1800" b="1" dirty="0"/>
              <a:t>:</a:t>
            </a:r>
          </a:p>
          <a:p>
            <a:pPr lvl="0"/>
            <a:endParaRPr lang="en-US" sz="1800" b="1" dirty="0"/>
          </a:p>
          <a:p>
            <a:pPr lvl="0" indent="0">
              <a:buNone/>
            </a:pPr>
            <a:r>
              <a:rPr lang="en-US" b="1" dirty="0">
                <a:latin typeface="Courier"/>
              </a:rPr>
              <a:t>Client_1&gt; trace 192.168.101.12
 1   192.168.100.1   (Leaf-1 Anycast GW)
 2   *               (</a:t>
            </a:r>
            <a:r>
              <a:rPr lang="ru-RU" b="1" dirty="0">
                <a:latin typeface="Courier"/>
              </a:rPr>
              <a:t>Пересылка внутри фабрики)
 3   10.254.254.4    (</a:t>
            </a:r>
            <a:r>
              <a:rPr lang="en-US" b="1" dirty="0">
                <a:latin typeface="Courier"/>
              </a:rPr>
              <a:t>Border-Router-2, </a:t>
            </a:r>
            <a:r>
              <a:rPr lang="ru-RU" b="1" dirty="0">
                <a:latin typeface="Courier"/>
              </a:rPr>
              <a:t>интерфейс </a:t>
            </a:r>
            <a:r>
              <a:rPr lang="en-US" b="1" dirty="0">
                <a:latin typeface="Courier"/>
              </a:rPr>
              <a:t>TENANT_A)  &lt;--- </a:t>
            </a:r>
            <a:r>
              <a:rPr lang="ru-RU" b="1" dirty="0">
                <a:latin typeface="Courier"/>
              </a:rPr>
              <a:t>Выход из фабрики
 4   10.254.254.7    (</a:t>
            </a:r>
            <a:r>
              <a:rPr lang="en-US" b="1" dirty="0">
                <a:latin typeface="Courier"/>
              </a:rPr>
              <a:t>Leaf-3, </a:t>
            </a:r>
            <a:r>
              <a:rPr lang="ru-RU" b="1" dirty="0">
                <a:latin typeface="Courier"/>
              </a:rPr>
              <a:t>интерфейс </a:t>
            </a:r>
            <a:r>
              <a:rPr lang="en-US" b="1" dirty="0">
                <a:latin typeface="Courier"/>
              </a:rPr>
              <a:t>TENANT_B)           &lt;--- </a:t>
            </a:r>
            <a:r>
              <a:rPr lang="ru-RU" b="1" dirty="0">
                <a:latin typeface="Courier"/>
              </a:rPr>
              <a:t>Вход в фабрику
 5   192.168.101.1   (</a:t>
            </a:r>
            <a:r>
              <a:rPr lang="en-US" b="1" dirty="0">
                <a:latin typeface="Courier"/>
              </a:rPr>
              <a:t>Leaf-2 Anycast GW)
 6   192.168.101.12  (Client-2)</a:t>
            </a:r>
          </a:p>
          <a:p>
            <a:pPr lvl="0" indent="0">
              <a:buNone/>
            </a:pPr>
            <a:endParaRPr lang="en-US" b="1" dirty="0">
              <a:latin typeface="Courier"/>
            </a:endParaRPr>
          </a:p>
          <a:p>
            <a:pPr marL="0" lvl="0" indent="0">
              <a:buNone/>
            </a:pPr>
            <a:r>
              <a:rPr lang="ru-RU" b="1" dirty="0"/>
              <a:t>Анализ:</a:t>
            </a:r>
            <a:r>
              <a:rPr lang="ru-RU" dirty="0"/>
              <a:t> - </a:t>
            </a:r>
            <a:r>
              <a:rPr lang="en-US" b="1" dirty="0"/>
              <a:t>TTL=59</a:t>
            </a:r>
            <a:r>
              <a:rPr lang="en-US" dirty="0"/>
              <a:t> (</a:t>
            </a:r>
            <a:r>
              <a:rPr lang="ru-RU" dirty="0"/>
              <a:t>исходный 64 - 5 </a:t>
            </a:r>
            <a:r>
              <a:rPr lang="ru-RU" dirty="0" err="1"/>
              <a:t>хопов</a:t>
            </a:r>
            <a:r>
              <a:rPr lang="ru-RU" dirty="0"/>
              <a:t>) подтверждает, что пакет прошел через внешние роутеры. - Путь полностью соответствует архитектуре: </a:t>
            </a:r>
            <a:r>
              <a:rPr lang="en-US" dirty="0"/>
              <a:t>Leaf-1 → Border → Leaf-3 → Leaf-2.</a:t>
            </a:r>
          </a:p>
        </p:txBody>
      </p:sp>
    </p:spTree>
    <p:extLst>
      <p:ext uri="{BB962C8B-B14F-4D97-AF65-F5344CB8AC3E}">
        <p14:creationId xmlns:p14="http://schemas.microsoft.com/office/powerpoint/2010/main" val="1690924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1EE2F-1468-4584-B528-7F4D3D8057D8}"/>
              </a:ext>
            </a:extLst>
          </p:cNvPr>
          <p:cNvSpPr txBox="1">
            <a:spLocks/>
          </p:cNvSpPr>
          <p:nvPr/>
        </p:nvSpPr>
        <p:spPr>
          <a:xfrm>
            <a:off x="145469" y="102174"/>
            <a:ext cx="8853062" cy="52988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800" b="1" dirty="0">
                <a:latin typeface="Roboto" panose="02000000000000000000" pitchFamily="2" charset="0"/>
                <a:ea typeface="Roboto" panose="02000000000000000000" pitchFamily="2" charset="0"/>
              </a:rPr>
              <a:t>Итоговые BGP таблицы VRF на Leaf-3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F9417-9D70-43ED-8278-28640FD9565E}"/>
              </a:ext>
            </a:extLst>
          </p:cNvPr>
          <p:cNvSpPr txBox="1"/>
          <p:nvPr/>
        </p:nvSpPr>
        <p:spPr>
          <a:xfrm>
            <a:off x="2286000" y="63206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1" dirty="0"/>
              <a:t>Выдержки из </a:t>
            </a:r>
            <a:r>
              <a:rPr lang="ru-RU" b="1" i="1" dirty="0" err="1">
                <a:latin typeface="Courier"/>
              </a:rPr>
              <a:t>show</a:t>
            </a:r>
            <a:r>
              <a:rPr lang="ru-RU" b="1" i="1" dirty="0">
                <a:latin typeface="Courier"/>
              </a:rPr>
              <a:t> </a:t>
            </a:r>
            <a:r>
              <a:rPr lang="ru-RU" b="1" i="1" dirty="0" err="1">
                <a:latin typeface="Courier"/>
              </a:rPr>
              <a:t>ip</a:t>
            </a:r>
            <a:r>
              <a:rPr lang="ru-RU" b="1" i="1" dirty="0">
                <a:latin typeface="Courier"/>
              </a:rPr>
              <a:t> </a:t>
            </a:r>
            <a:r>
              <a:rPr lang="ru-RU" sz="1600" b="1" i="1" dirty="0" err="1">
                <a:latin typeface="Courier"/>
              </a:rPr>
              <a:t>bgp</a:t>
            </a:r>
            <a:r>
              <a:rPr lang="ru-RU" b="1" i="1" dirty="0">
                <a:latin typeface="Courier"/>
              </a:rPr>
              <a:t> </a:t>
            </a:r>
            <a:r>
              <a:rPr lang="ru-RU" b="1" i="1" dirty="0" err="1">
                <a:latin typeface="Courier"/>
              </a:rPr>
              <a:t>vrf</a:t>
            </a:r>
            <a:endParaRPr lang="ru-RU" b="1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E0574347-88E2-4687-810D-386D03B411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247863"/>
              </p:ext>
            </p:extLst>
          </p:nvPr>
        </p:nvGraphicFramePr>
        <p:xfrm>
          <a:off x="685800" y="1057788"/>
          <a:ext cx="7772400" cy="2743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VRF TENANT_A (</a:t>
                      </a:r>
                      <a:r>
                        <a:rPr dirty="0" err="1"/>
                        <a:t>на</a:t>
                      </a:r>
                      <a:r>
                        <a:rPr dirty="0"/>
                        <a:t> Leaf-3)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VRF TENANT_B (на Leaf-3)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 err="1"/>
                        <a:t>Сети</a:t>
                      </a:r>
                      <a:r>
                        <a:rPr dirty="0"/>
                        <a:t> TENANT_A: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Сети TENANT_B: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>
                          <a:latin typeface="Courier"/>
                        </a:rPr>
                        <a:t>192.168.100.0/24</a:t>
                      </a:r>
                      <a:r>
                        <a:t>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>
                          <a:latin typeface="Courier"/>
                        </a:rPr>
                        <a:t>192.168.101.0/24</a:t>
                      </a:r>
                      <a:r>
                        <a:t> (local)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>
                          <a:latin typeface="Courier"/>
                        </a:rPr>
                        <a:t>192.168.200.0/24</a:t>
                      </a:r>
                      <a:r>
                        <a:t>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/>
                        <a:t>Сети TENANT_B: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b="1" dirty="0" err="1"/>
                        <a:t>Сети</a:t>
                      </a:r>
                      <a:r>
                        <a:rPr b="1" dirty="0"/>
                        <a:t> TENANT_A: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>
                          <a:latin typeface="Courier"/>
                        </a:rPr>
                        <a:t>192.168.101.0/24</a:t>
                      </a:r>
                      <a:r>
                        <a:rPr dirty="0"/>
                        <a:t> (via BR) </a:t>
                      </a:r>
                      <a:r>
                        <a:rPr b="1" dirty="0"/>
                        <a:t>ECMP</a:t>
                      </a:r>
                      <a:r>
                        <a:rPr dirty="0"/>
                        <a:t>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>
                          <a:latin typeface="Courier"/>
                        </a:rPr>
                        <a:t>192.168.100.0/24</a:t>
                      </a:r>
                      <a:r>
                        <a:t> (via BR) </a:t>
                      </a:r>
                      <a:r>
                        <a:rPr b="1"/>
                        <a:t>ECMP</a:t>
                      </a:r>
                      <a:r>
                        <a:t>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>
                          <a:latin typeface="Courier"/>
                        </a:rPr>
                        <a:t>192.168.200.0/24</a:t>
                      </a:r>
                      <a:r>
                        <a:rPr dirty="0"/>
                        <a:t> (via BR) </a:t>
                      </a:r>
                      <a:r>
                        <a:rPr b="1" dirty="0"/>
                        <a:t>ECMP</a:t>
                      </a:r>
                      <a:r>
                        <a:rPr dirty="0"/>
                        <a:t>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A954E8-0F45-43D2-918B-D7428102D9F4}"/>
              </a:ext>
            </a:extLst>
          </p:cNvPr>
          <p:cNvSpPr txBox="1"/>
          <p:nvPr/>
        </p:nvSpPr>
        <p:spPr>
          <a:xfrm>
            <a:off x="1529602" y="3988218"/>
            <a:ext cx="60847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ru-RU" b="1" dirty="0"/>
              <a:t>Вывод:</a:t>
            </a:r>
            <a:r>
              <a:rPr lang="ru-RU" dirty="0"/>
              <a:t> Маршрутная информация успешно обменивается между VRF через внешние роутеры. ECMP работает в обе стороны.</a:t>
            </a:r>
          </a:p>
        </p:txBody>
      </p:sp>
    </p:spTree>
    <p:extLst>
      <p:ext uri="{BB962C8B-B14F-4D97-AF65-F5344CB8AC3E}">
        <p14:creationId xmlns:p14="http://schemas.microsoft.com/office/powerpoint/2010/main" val="220019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0093BCD-B419-4343-983F-DA196D7134C8}"/>
              </a:ext>
            </a:extLst>
          </p:cNvPr>
          <p:cNvSpPr txBox="1">
            <a:spLocks/>
          </p:cNvSpPr>
          <p:nvPr/>
        </p:nvSpPr>
        <p:spPr>
          <a:xfrm>
            <a:off x="145469" y="122345"/>
            <a:ext cx="8853062" cy="52988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>
              <a:buNone/>
            </a:pPr>
            <a:r>
              <a:rPr lang="ru-RU" sz="3000" b="1" dirty="0"/>
              <a:t>Что </a:t>
            </a:r>
            <a:r>
              <a:rPr lang="ru-RU" sz="3000" b="1" dirty="0">
                <a:latin typeface="Roboto" panose="02000000000000000000" pitchFamily="2" charset="0"/>
                <a:ea typeface="Roboto" panose="02000000000000000000" pitchFamily="2" charset="0"/>
              </a:rPr>
              <a:t>мы</a:t>
            </a:r>
            <a:r>
              <a:rPr lang="ru-RU" sz="3000" b="1" dirty="0"/>
              <a:t> получили в итоге?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1C4BC-6A2A-4E81-95CC-1FDB689CBB30}"/>
              </a:ext>
            </a:extLst>
          </p:cNvPr>
          <p:cNvSpPr txBox="1"/>
          <p:nvPr/>
        </p:nvSpPr>
        <p:spPr>
          <a:xfrm>
            <a:off x="504264" y="955923"/>
            <a:ext cx="81354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800" b="1" dirty="0"/>
              <a:t>🔒 Безопасность:</a:t>
            </a:r>
          </a:p>
          <a:p>
            <a:pPr lvl="1"/>
            <a:r>
              <a:rPr lang="ru-RU" sz="1800" dirty="0"/>
              <a:t>Полная изоляция VRF внутри фабрики (нет VRF </a:t>
            </a:r>
            <a:r>
              <a:rPr lang="ru-RU" sz="1800" dirty="0" err="1"/>
              <a:t>Leaking</a:t>
            </a:r>
            <a:r>
              <a:rPr lang="ru-RU" sz="1800" dirty="0"/>
              <a:t>).</a:t>
            </a:r>
          </a:p>
          <a:p>
            <a:pPr lvl="1"/>
            <a:r>
              <a:rPr lang="ru-RU" sz="1800" dirty="0"/>
              <a:t>Весь меж-</a:t>
            </a:r>
            <a:r>
              <a:rPr lang="ru-RU" sz="1800" dirty="0" err="1"/>
              <a:t>арендаторный</a:t>
            </a:r>
            <a:r>
              <a:rPr lang="ru-RU" sz="1800" dirty="0"/>
              <a:t> трафик проходит через внешний периметр, где можно применять ACL, NAT и политики DPI.</a:t>
            </a:r>
          </a:p>
          <a:p>
            <a:pPr lvl="1"/>
            <a:endParaRPr lang="ru-RU" sz="1800" dirty="0"/>
          </a:p>
          <a:p>
            <a:pPr lvl="0"/>
            <a:r>
              <a:rPr lang="ru-RU" sz="1800" b="1" dirty="0"/>
              <a:t>⚙️ Отказоустойчивость:</a:t>
            </a:r>
          </a:p>
          <a:p>
            <a:pPr lvl="1"/>
            <a:r>
              <a:rPr lang="ru-RU" sz="1800" dirty="0"/>
              <a:t>Два </a:t>
            </a:r>
            <a:r>
              <a:rPr lang="ru-RU" sz="1800" dirty="0" err="1"/>
              <a:t>Border</a:t>
            </a:r>
            <a:r>
              <a:rPr lang="ru-RU" sz="1800" dirty="0"/>
              <a:t> </a:t>
            </a:r>
            <a:r>
              <a:rPr lang="ru-RU" sz="1800" dirty="0" err="1"/>
              <a:t>Router</a:t>
            </a:r>
            <a:r>
              <a:rPr lang="ru-RU" sz="1800" dirty="0"/>
              <a:t>.</a:t>
            </a:r>
          </a:p>
          <a:p>
            <a:pPr lvl="1"/>
            <a:r>
              <a:rPr lang="ru-RU" sz="1800" dirty="0"/>
              <a:t>ECMP для балансировки нагрузки.</a:t>
            </a:r>
          </a:p>
          <a:p>
            <a:pPr lvl="1"/>
            <a:r>
              <a:rPr lang="ru-RU" sz="1800" dirty="0" err="1"/>
              <a:t>Multihoming</a:t>
            </a:r>
            <a:r>
              <a:rPr lang="ru-RU" sz="1800" dirty="0"/>
              <a:t> для критичных серверов (</a:t>
            </a:r>
            <a:r>
              <a:rPr lang="ru-RU" sz="1800"/>
              <a:t>Server-2).</a:t>
            </a:r>
          </a:p>
          <a:p>
            <a:pPr lvl="1"/>
            <a:endParaRPr lang="ru-RU" sz="1800" dirty="0"/>
          </a:p>
          <a:p>
            <a:pPr lvl="0"/>
            <a:r>
              <a:rPr lang="ru-RU" sz="1800" b="1" dirty="0"/>
              <a:t>📈 Масштабируемость:</a:t>
            </a:r>
          </a:p>
          <a:p>
            <a:pPr lvl="1"/>
            <a:r>
              <a:rPr lang="ru-RU" sz="1800" dirty="0"/>
              <a:t>Добавление новых VRF не требует изменения </a:t>
            </a:r>
            <a:r>
              <a:rPr lang="ru-RU" sz="1800" dirty="0" err="1"/>
              <a:t>Underlay</a:t>
            </a:r>
            <a:r>
              <a:rPr lang="ru-RU" sz="1800" dirty="0"/>
              <a:t>.</a:t>
            </a:r>
          </a:p>
          <a:p>
            <a:pPr lvl="1"/>
            <a:r>
              <a:rPr lang="ru-RU" sz="1800" dirty="0"/>
              <a:t>BGP </a:t>
            </a:r>
            <a:r>
              <a:rPr lang="ru-RU" sz="1800" dirty="0" err="1"/>
              <a:t>Route</a:t>
            </a:r>
            <a:r>
              <a:rPr lang="ru-RU" sz="1800" dirty="0"/>
              <a:t> </a:t>
            </a:r>
            <a:r>
              <a:rPr lang="ru-RU" sz="1800" dirty="0" err="1"/>
              <a:t>Reflectors</a:t>
            </a:r>
            <a:r>
              <a:rPr lang="ru-RU" sz="1800" dirty="0"/>
              <a:t> упрощают конфигурацию при росте числа </a:t>
            </a:r>
            <a:r>
              <a:rPr lang="ru-RU" sz="1800" dirty="0" err="1"/>
              <a:t>Leaf</a:t>
            </a:r>
            <a:r>
              <a:rPr lang="ru-RU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77295148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2726</TotalTime>
  <Words>916</Words>
  <Application>Microsoft Office PowerPoint</Application>
  <PresentationFormat>Экран (16:9)</PresentationFormat>
  <Paragraphs>116</Paragraphs>
  <Slides>13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Roboto Medium</vt:lpstr>
      <vt:lpstr>Courier</vt:lpstr>
      <vt:lpstr>Arial</vt:lpstr>
      <vt:lpstr>Courier New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План защиты</vt:lpstr>
      <vt:lpstr>Презентация PowerPoint</vt:lpstr>
      <vt:lpstr>Презентация PowerPoint</vt:lpstr>
      <vt:lpstr>Презентация PowerPoint</vt:lpstr>
      <vt:lpstr>Проблема AS-Path Loop (allowas-in)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Elvira</cp:lastModifiedBy>
  <cp:revision>27</cp:revision>
  <dcterms:modified xsi:type="dcterms:W3CDTF">2026-03-16T09:46:37Z</dcterms:modified>
</cp:coreProperties>
</file>